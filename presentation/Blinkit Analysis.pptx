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7" r:id="rId7"/>
    <p:sldId id="268" r:id="rId8"/>
    <p:sldId id="269" r:id="rId9"/>
    <p:sldId id="266" r:id="rId10"/>
    <p:sldId id="272" r:id="rId11"/>
    <p:sldId id="273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0AD9-6CDD-0E2C-D4B5-24F9AC19F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7738"/>
            <a:ext cx="9144000" cy="1792923"/>
          </a:xfrm>
        </p:spPr>
        <p:txBody>
          <a:bodyPr>
            <a:normAutofit/>
          </a:bodyPr>
          <a:lstStyle/>
          <a:p>
            <a:r>
              <a:rPr lang="en-US" sz="48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Blink</a:t>
            </a:r>
            <a:r>
              <a:rPr lang="en-US" sz="4800" b="1" kern="1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4800" b="1" kern="1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Analysis using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5815D-1833-8DFB-9DAD-CB8616F3F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3871" y="3000959"/>
            <a:ext cx="6784258" cy="971601"/>
          </a:xfrm>
        </p:spPr>
        <p:txBody>
          <a:bodyPr>
            <a:normAutofit/>
          </a:bodyPr>
          <a:lstStyle/>
          <a:p>
            <a:r>
              <a:rPr lang="en-US" b="1" kern="1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Insights into Total Sales, Total Items &amp; Average rating</a:t>
            </a:r>
          </a:p>
        </p:txBody>
      </p:sp>
    </p:spTree>
    <p:extLst>
      <p:ext uri="{BB962C8B-B14F-4D97-AF65-F5344CB8AC3E}">
        <p14:creationId xmlns:p14="http://schemas.microsoft.com/office/powerpoint/2010/main" val="330564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8DFAA2E-2614-6E79-88C3-14A3BC2E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02" y="98324"/>
            <a:ext cx="7765322" cy="963560"/>
          </a:xfrm>
        </p:spPr>
        <p:txBody>
          <a:bodyPr/>
          <a:lstStyle/>
          <a:p>
            <a:r>
              <a:rPr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</a:t>
            </a:r>
            <a:r>
              <a:rPr dirty="0"/>
              <a:t> </a:t>
            </a:r>
            <a:r>
              <a:rPr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02C13E-CBC4-2F7E-8986-181B3EBE4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902" y="1061885"/>
            <a:ext cx="11182188" cy="806244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kern="1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 Name: </a:t>
            </a:r>
            <a:r>
              <a:rPr lang="en-US" sz="2400" b="1" kern="1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Blinkit</a:t>
            </a:r>
            <a:r>
              <a:rPr lang="en-US" sz="2400" b="1" kern="1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Sales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sz="2400" b="1" kern="1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Source: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Kaggle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9BE4F-64F5-8513-429E-B13CCDDA659D}"/>
              </a:ext>
            </a:extLst>
          </p:cNvPr>
          <p:cNvSpPr txBox="1">
            <a:spLocks/>
          </p:cNvSpPr>
          <p:nvPr/>
        </p:nvSpPr>
        <p:spPr>
          <a:xfrm>
            <a:off x="183902" y="2153265"/>
            <a:ext cx="7765322" cy="97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4188A8-7B81-0126-326A-5F3695AF4D3E}"/>
              </a:ext>
            </a:extLst>
          </p:cNvPr>
          <p:cNvSpPr txBox="1">
            <a:spLocks/>
          </p:cNvSpPr>
          <p:nvPr/>
        </p:nvSpPr>
        <p:spPr>
          <a:xfrm>
            <a:off x="183902" y="2943775"/>
            <a:ext cx="7765322" cy="158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BI</a:t>
            </a:r>
          </a:p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</a:p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&amp;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179738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</a:t>
            </a:r>
            <a:r>
              <a:rPr lang="en-IN" sz="24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 </a:t>
            </a:r>
            <a:r>
              <a:rPr lang="en-IN" sz="24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134254"/>
            <a:ext cx="11161325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00659"/>
            <a:ext cx="10505718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	</a:t>
            </a:r>
            <a:r>
              <a:rPr lang="en-US" altLang="en-US" sz="20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6F0EF-FDAB-EFFB-CA75-21C5F247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3B85C97-A1B5-80FC-E866-45E5FDE6D8C1}"/>
              </a:ext>
            </a:extLst>
          </p:cNvPr>
          <p:cNvSpPr txBox="1">
            <a:spLocks/>
          </p:cNvSpPr>
          <p:nvPr/>
        </p:nvSpPr>
        <p:spPr>
          <a:xfrm>
            <a:off x="3205316" y="2612026"/>
            <a:ext cx="5781368" cy="122754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kern="1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706216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4E901-15E6-95B2-BDA3-6B8D63EC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E88C-6B3D-D752-9BA6-FF51147EB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35" y="0"/>
            <a:ext cx="11050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96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82801-6A10-CAEE-00F3-3AA4822A8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4ADB9-3332-10B6-9FC2-554E3E5BC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01" y="0"/>
            <a:ext cx="109675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3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50FA5-126A-2963-5014-795A4B92E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F4F594-BBBC-5E3E-EB6D-2A2D5C0CF0B8}"/>
              </a:ext>
            </a:extLst>
          </p:cNvPr>
          <p:cNvSpPr txBox="1"/>
          <p:nvPr/>
        </p:nvSpPr>
        <p:spPr>
          <a:xfrm>
            <a:off x="226141" y="174172"/>
            <a:ext cx="7546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AF8CFA-9E27-1214-55DE-028BAFE7A8CE}"/>
              </a:ext>
            </a:extLst>
          </p:cNvPr>
          <p:cNvSpPr txBox="1"/>
          <p:nvPr/>
        </p:nvSpPr>
        <p:spPr>
          <a:xfrm>
            <a:off x="226141" y="883920"/>
            <a:ext cx="10909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9702E"/>
                </a:solidFill>
              </a:rPr>
              <a:t>1. Total Sales by Year</a:t>
            </a:r>
            <a:br>
              <a:rPr lang="en-US" dirty="0"/>
            </a:br>
            <a:r>
              <a:rPr lang="en-US" dirty="0"/>
              <a:t>Sales peaked in 2018, reaching approximately $205K, which represents a 40% increase compared to the previous year. This significant growth can be attributed to the expansion in the number of outlets, which rose to 1,463 in 2018—an increase of 36% year-over-year.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FFA9F4-3780-6DCB-8CC6-AB8E16ADD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063" y="2084249"/>
            <a:ext cx="4629796" cy="2372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617D76-A9F1-2E2A-152D-C87237BDC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1" y="2084249"/>
            <a:ext cx="6936659" cy="28349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6E00F8-EA0B-30D3-8542-A1079390DF72}"/>
              </a:ext>
            </a:extLst>
          </p:cNvPr>
          <p:cNvSpPr txBox="1"/>
          <p:nvPr/>
        </p:nvSpPr>
        <p:spPr>
          <a:xfrm>
            <a:off x="114381" y="5103674"/>
            <a:ext cx="119464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9702E"/>
                </a:solidFill>
              </a:rPr>
              <a:t>2. Outlet Type Analysis</a:t>
            </a:r>
            <a:br>
              <a:rPr lang="en-US" dirty="0"/>
            </a:br>
            <a:r>
              <a:rPr lang="en-US" dirty="0"/>
              <a:t>Supermarket Type1 dominates the business with 5,577 outlets, generating the highest total revenue of approximately $787K. In comparison, there are 1,083 grocery stores contributing around $152K in revenue. Supermarket Type2 and Supermarket Type3 have a similar number of outlets—928 and 935 respectively—each generating nearly comparable revenue of about $131K and $130K. Overall, Supermarket Type1 plays a key role in driving the majority of sales.</a:t>
            </a:r>
          </a:p>
        </p:txBody>
      </p:sp>
    </p:spTree>
    <p:extLst>
      <p:ext uri="{BB962C8B-B14F-4D97-AF65-F5344CB8AC3E}">
        <p14:creationId xmlns:p14="http://schemas.microsoft.com/office/powerpoint/2010/main" val="4206544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E66DF-8EC3-515B-3D20-921B197F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A2860D-8B0A-884A-F48F-404D624F1DA2}"/>
              </a:ext>
            </a:extLst>
          </p:cNvPr>
          <p:cNvSpPr txBox="1"/>
          <p:nvPr/>
        </p:nvSpPr>
        <p:spPr>
          <a:xfrm>
            <a:off x="226141" y="174172"/>
            <a:ext cx="7546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89B97-BA74-73C3-FEC8-B927FF01EC77}"/>
              </a:ext>
            </a:extLst>
          </p:cNvPr>
          <p:cNvSpPr txBox="1"/>
          <p:nvPr/>
        </p:nvSpPr>
        <p:spPr>
          <a:xfrm>
            <a:off x="226141" y="697392"/>
            <a:ext cx="109092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9702E"/>
                </a:solidFill>
              </a:rPr>
              <a:t>3. Item Type:</a:t>
            </a:r>
            <a:br>
              <a:rPr lang="en-US" dirty="0"/>
            </a:br>
            <a:r>
              <a:rPr lang="en-US" dirty="0"/>
              <a:t>Fruits &amp; Vegetables, Snack Foods, and Household categories are the top three best-performing item types. Fruits &amp; Vegetables generated approximately $178K in revenue with 1,232 units sold, followed closely by Snack Foods with $175K from 1,200 units. Household items contributed $135K in revenue with 910 units sold.</a:t>
            </a:r>
          </a:p>
          <a:p>
            <a:endParaRPr lang="en-US" dirty="0"/>
          </a:p>
          <a:p>
            <a:r>
              <a:rPr lang="en-US" dirty="0"/>
              <a:t>Together, these three categories account for nearly </a:t>
            </a:r>
            <a:r>
              <a:rPr lang="en-US" b="1" dirty="0"/>
              <a:t>40% of total revenue</a:t>
            </a:r>
            <a:r>
              <a:rPr lang="en-US" dirty="0"/>
              <a:t> and </a:t>
            </a:r>
            <a:r>
              <a:rPr lang="en-US" b="1" dirty="0"/>
              <a:t>39% of total units sold</a:t>
            </a:r>
            <a:r>
              <a:rPr lang="en-US" dirty="0"/>
              <a:t>, highlighting their significant contribution to overall sales performance.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963067-86BA-04A2-367D-BDE99FCB9A27}"/>
              </a:ext>
            </a:extLst>
          </p:cNvPr>
          <p:cNvSpPr txBox="1"/>
          <p:nvPr/>
        </p:nvSpPr>
        <p:spPr>
          <a:xfrm>
            <a:off x="226139" y="4437609"/>
            <a:ext cx="11946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9702E"/>
                </a:solidFill>
              </a:rPr>
              <a:t>5. Outlet Size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6270A-1812-2AC4-E00E-42D07074806A}"/>
              </a:ext>
            </a:extLst>
          </p:cNvPr>
          <p:cNvSpPr txBox="1"/>
          <p:nvPr/>
        </p:nvSpPr>
        <p:spPr>
          <a:xfrm>
            <a:off x="226141" y="2928771"/>
            <a:ext cx="10909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9702E"/>
                </a:solidFill>
              </a:rPr>
              <a:t>4. Outlet Location: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Tier 1: $336.40K (28%)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Tier 2: $393.15K (32%)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Tier 3: $472.13K (39%)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6E080C-6635-1FFB-15BB-05E2C5F34729}"/>
              </a:ext>
            </a:extLst>
          </p:cNvPr>
          <p:cNvGrpSpPr/>
          <p:nvPr/>
        </p:nvGrpSpPr>
        <p:grpSpPr>
          <a:xfrm>
            <a:off x="226143" y="4915989"/>
            <a:ext cx="11739718" cy="1504086"/>
            <a:chOff x="226141" y="3648175"/>
            <a:chExt cx="11739718" cy="150408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84D79BF-35D6-760B-3C6A-28CE0ECD8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84" t="4161"/>
            <a:stretch>
              <a:fillRect/>
            </a:stretch>
          </p:blipFill>
          <p:spPr>
            <a:xfrm>
              <a:off x="226141" y="3648176"/>
              <a:ext cx="4500395" cy="150408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BACC3B2-31CD-CC68-5553-F71F62822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089"/>
            <a:stretch>
              <a:fillRect/>
            </a:stretch>
          </p:blipFill>
          <p:spPr>
            <a:xfrm>
              <a:off x="4927244" y="3648175"/>
              <a:ext cx="7038615" cy="15040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1416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92DE5-9D2D-B206-F5E3-401BC575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34AB8B-DD32-9A3B-CD1C-E496B1F57F27}"/>
              </a:ext>
            </a:extLst>
          </p:cNvPr>
          <p:cNvSpPr txBox="1"/>
          <p:nvPr/>
        </p:nvSpPr>
        <p:spPr>
          <a:xfrm>
            <a:off x="226141" y="174172"/>
            <a:ext cx="7546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FC6BA-4DFC-CE07-2D6B-F2B95A6C18ED}"/>
              </a:ext>
            </a:extLst>
          </p:cNvPr>
          <p:cNvSpPr txBox="1"/>
          <p:nvPr/>
        </p:nvSpPr>
        <p:spPr>
          <a:xfrm>
            <a:off x="226141" y="697392"/>
            <a:ext cx="10909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49702E"/>
                </a:solidFill>
              </a:rPr>
              <a:t>6. Item Fat Content:</a:t>
            </a:r>
          </a:p>
          <a:p>
            <a:r>
              <a:rPr lang="en-US" dirty="0"/>
              <a:t>Low Fat items dominate sales performance, contributing approximately </a:t>
            </a:r>
            <a:r>
              <a:rPr lang="en-US" b="1" dirty="0"/>
              <a:t>64% of total revenue</a:t>
            </a:r>
            <a:r>
              <a:rPr lang="en-US" dirty="0"/>
              <a:t>, while Regular Fat items account for the remaining </a:t>
            </a:r>
            <a:r>
              <a:rPr lang="en-US" b="1" dirty="0"/>
              <a:t>36%</a:t>
            </a:r>
            <a:r>
              <a:rPr lang="en-US" dirty="0"/>
              <a:t>. This indicates a strong customer preference for low-fat products, making them a key driver of overall revenue.</a:t>
            </a:r>
          </a:p>
        </p:txBody>
      </p:sp>
    </p:spTree>
    <p:extLst>
      <p:ext uri="{BB962C8B-B14F-4D97-AF65-F5344CB8AC3E}">
        <p14:creationId xmlns:p14="http://schemas.microsoft.com/office/powerpoint/2010/main" val="1801506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C0533-923F-DDCB-F5F9-ED81C7BC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23BF93-2473-AA81-915F-D45920F14CE1}"/>
              </a:ext>
            </a:extLst>
          </p:cNvPr>
          <p:cNvSpPr txBox="1">
            <a:spLocks/>
          </p:cNvSpPr>
          <p:nvPr/>
        </p:nvSpPr>
        <p:spPr>
          <a:xfrm>
            <a:off x="4369837" y="2904510"/>
            <a:ext cx="3010678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</a:t>
            </a:r>
            <a:r>
              <a:rPr lang="en-US" sz="4800" b="1" kern="1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309205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760</TotalTime>
  <Words>710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Rounded MT Bold</vt:lpstr>
      <vt:lpstr>Calibri</vt:lpstr>
      <vt:lpstr>Calibri Light</vt:lpstr>
      <vt:lpstr>Segoe UI Black</vt:lpstr>
      <vt:lpstr>Office Theme</vt:lpstr>
      <vt:lpstr>Blinkit Data Analysis using Power BI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Alok Yadav</cp:lastModifiedBy>
  <cp:revision>25</cp:revision>
  <dcterms:created xsi:type="dcterms:W3CDTF">2024-06-24T12:27:37Z</dcterms:created>
  <dcterms:modified xsi:type="dcterms:W3CDTF">2026-04-10T09:30:51Z</dcterms:modified>
</cp:coreProperties>
</file>